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a66c7ed4-6dba-4735-b73d-6df88b1eff1a}">
          <p14:sldIdLst>
            <p14:sldId id="256"/>
            <p14:sldId id="257"/>
          </p14:sldIdLst>
        </p14:section>
        <p14:section name="Architecture" id="{4c265088-e9d3-d49a-d3cd-01bd173695ec}">
          <p14:sldIdLst>
            <p14:sldId id="258"/>
            <p14:sldId id="259"/>
          </p14:sldIdLst>
        </p14:section>
        <p14:section name="Channels" id="{f083f8cf-3ca4-345f-e942-a9f05a740c01}">
          <p14:sldIdLst>
            <p14:sldId id="260"/>
            <p14:sldId id="261"/>
          </p14:sldIdLst>
        </p14:section>
        <p14:section name="Build and run" id="{e3ebbf38-778c-780c-cbb1-87de8b802720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of the native Snowflake alerting solution for long-running, queued and lock-blocked queries, with four notification channels.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Thresholds are defaults held in QM_CONFIG and can be changed without redeploying.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inside the boundary is native Snowflake: serverless task, SQL stored procedures, tables, views, secrets and notification integrations.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SP_QM_SCAN performs these seven steps on every run of TASK_QM_SCAN.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channel is a separate module (sql/02 to 05) with its own sender procedure and enable switch in QM_CONFIG.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QUEUED alerts go to chat and e-mail only. PAGERDUTY_ALERT_TYPES, PAGERDUTY_MIN_MINUTES and PAGERDUTY_AUTO_RESOLVE are in QM_CONFIG.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 only the channel modules the client needs; the engine calls enabled channels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Least-privilege role OPS_QUERY_MONITOR owns all objects; ACCOUNTADMIN is required only during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rationale in docs/DESIGN.md section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Repository: github.com/CloudKatasani/Observability-Snowflake-Query-Alerts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Observability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Real-Time Query Alerts  |  Architecture  |  OBSERVABILITY.QUERY_ALERTS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 Real-Time Query Alerts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long-running, queued and lock-blocked queries  ·  E-mail, Microsoft Teams, Slack, PagerDuty</a:t>
            </a:r>
            <a:endParaRPr lang="en-US" sz="2000" dirty="0"/>
          </a:p>
        </p:txBody>
      </p:sp>
      <p:pic>
        <p:nvPicPr>
          <p:cNvPr id="4" name="snowflake mar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v2.0  ·  OBSERVABILITY.QUERY_ALERTS  · 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Admin team is alerted on</a:t>
            </a:r>
            <a:endParaRPr lang="en-US" sz="3000" dirty="0"/>
          </a:p>
        </p:txBody>
      </p:sp>
      <p:sp>
        <p:nvSpPr>
          <p:cNvPr id="3" name="card LONG_RUNNING"/>
          <p:cNvSpPr/>
          <p:nvPr/>
        </p:nvSpPr>
        <p:spPr>
          <a:xfrm>
            <a:off x="548640" y="1325880"/>
            <a:ext cx="3474720" cy="37490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ONG_RUNNING circle"/>
          <p:cNvSpPr/>
          <p:nvPr/>
        </p:nvSpPr>
        <p:spPr>
          <a:xfrm>
            <a:off x="868680" y="16002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LONG_RUNN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17812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554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LONG_RUNNING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1546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Query executing 15 min or more. Time spent queued or waiting on a lock is excluded.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434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RUNNING</a:t>
            </a:r>
            <a:endParaRPr lang="en-US" sz="1100" dirty="0"/>
          </a:p>
        </p:txBody>
      </p:sp>
      <p:sp>
        <p:nvSpPr>
          <p:cNvPr id="10" name="card QUEUED"/>
          <p:cNvSpPr/>
          <p:nvPr/>
        </p:nvSpPr>
        <p:spPr>
          <a:xfrm>
            <a:off x="4297680" y="1325880"/>
            <a:ext cx="3474720" cy="37490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QUEUED circle"/>
          <p:cNvSpPr/>
          <p:nvPr/>
        </p:nvSpPr>
        <p:spPr>
          <a:xfrm>
            <a:off x="4617720" y="16002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QUEUE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771" y="178125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623560" y="1554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44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QUEUED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31546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Query waiting for warehouse capacity or a warehouse resume for 5 min or more.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617720" y="4434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QUEUED, RESUMING_WAREHOUSE</a:t>
            </a:r>
            <a:endParaRPr lang="en-US" sz="1100" dirty="0"/>
          </a:p>
        </p:txBody>
      </p:sp>
      <p:sp>
        <p:nvSpPr>
          <p:cNvPr id="17" name="card BLOCKED"/>
          <p:cNvSpPr/>
          <p:nvPr/>
        </p:nvSpPr>
        <p:spPr>
          <a:xfrm>
            <a:off x="8046720" y="1325880"/>
            <a:ext cx="3474720" cy="37490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LOCKED circle"/>
          <p:cNvSpPr/>
          <p:nvPr/>
        </p:nvSpPr>
        <p:spPr>
          <a:xfrm>
            <a:off x="8366760" y="160020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BLOCKED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811" y="1781251"/>
            <a:ext cx="460858" cy="46085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372600" y="1554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4400" dirty="0"/>
          </a:p>
        </p:txBody>
      </p:sp>
      <p:sp>
        <p:nvSpPr>
          <p:cNvPr id="21" name="Text 16"/>
          <p:cNvSpPr txBox="1"/>
          <p:nvPr/>
        </p:nvSpPr>
        <p:spPr>
          <a:xfrm>
            <a:off x="836676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BLOCKED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366760" y="31546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Query waiting on a table lock for 5 min or more. Names the locked table and the blocking query.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366760" y="4434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BLOCKED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5303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1 min</a:t>
            </a:r>
            <a:endParaRPr lang="en-US" sz="26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5852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detection delay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3360420" y="5303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2"/>
          <p:cNvSpPr txBox="1"/>
          <p:nvPr/>
        </p:nvSpPr>
        <p:spPr>
          <a:xfrm>
            <a:off x="3360420" y="5852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notification channels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6172200" y="5303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29" name="Text 24"/>
          <p:cNvSpPr txBox="1"/>
          <p:nvPr/>
        </p:nvSpPr>
        <p:spPr>
          <a:xfrm>
            <a:off x="6172200" y="5852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external servers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8983980" y="5303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</a:t>
            </a:r>
            <a:endParaRPr lang="en-US" sz="2600" dirty="0"/>
          </a:p>
        </p:txBody>
      </p:sp>
      <p:sp>
        <p:nvSpPr>
          <p:cNvPr id="31" name="Text 26"/>
          <p:cNvSpPr txBox="1"/>
          <p:nvPr/>
        </p:nvSpPr>
        <p:spPr>
          <a:xfrm>
            <a:off x="8983980" y="5852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re-notify window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</a:t>
            </a:r>
            <a:endParaRPr lang="en-US" sz="3000" dirty="0"/>
          </a:p>
        </p:txBody>
      </p:sp>
      <p:sp>
        <p:nvSpPr>
          <p:cNvPr id="3" name="Snowflake account boundary"/>
          <p:cNvSpPr/>
          <p:nvPr/>
        </p:nvSpPr>
        <p:spPr>
          <a:xfrm>
            <a:off x="457200" y="1188720"/>
            <a:ext cx="8549640" cy="5074920"/>
          </a:xfrm>
          <a:prstGeom prst="roundRect">
            <a:avLst>
              <a:gd name="adj" fmla="val 144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618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Snowflake account  ·  OBSERVABILITY.QUERY_ALERTS</a:t>
            </a:r>
            <a:endParaRPr lang="en-US" sz="1100" dirty="0"/>
          </a:p>
        </p:txBody>
      </p:sp>
      <p:sp>
        <p:nvSpPr>
          <p:cNvPr id="5" name="task"/>
          <p:cNvSpPr/>
          <p:nvPr/>
        </p:nvSpPr>
        <p:spPr>
          <a:xfrm>
            <a:off x="685800" y="1691640"/>
            <a:ext cx="21488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21488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TASK_QM_SCAN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serverless · every 1 min</a:t>
            </a:r>
            <a:endParaRPr lang="en-US" sz="1300" dirty="0"/>
          </a:p>
        </p:txBody>
      </p:sp>
      <p:sp>
        <p:nvSpPr>
          <p:cNvPr id="7" name="query history source"/>
          <p:cNvSpPr/>
          <p:nvPr/>
        </p:nvSpPr>
        <p:spPr>
          <a:xfrm>
            <a:off x="685800" y="2880360"/>
            <a:ext cx="21488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880360"/>
            <a:ext cx="21488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QUERY_HISTORY_BY_WAREHOUSE()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real-time, per warehouse</a:t>
            </a:r>
            <a:endParaRPr lang="en-US" sz="1100" dirty="0"/>
          </a:p>
        </p:txBody>
      </p:sp>
      <p:sp>
        <p:nvSpPr>
          <p:cNvPr id="9" name="locks source"/>
          <p:cNvSpPr/>
          <p:nvPr/>
        </p:nvSpPr>
        <p:spPr>
          <a:xfrm>
            <a:off x="685800" y="4114800"/>
            <a:ext cx="21488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114800"/>
            <a:ext cx="21488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SHOW LOCKS IN ACCOUNT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lock holder (best effort)</a:t>
            </a:r>
            <a:endParaRPr lang="en-US" sz="1100" dirty="0"/>
          </a:p>
        </p:txBody>
      </p:sp>
      <p:sp>
        <p:nvSpPr>
          <p:cNvPr id="11" name="engine"/>
          <p:cNvSpPr/>
          <p:nvPr/>
        </p:nvSpPr>
        <p:spPr>
          <a:xfrm>
            <a:off x="3291840" y="1691640"/>
            <a:ext cx="2651760" cy="2148840"/>
          </a:xfrm>
          <a:prstGeom prst="roundRect">
            <a:avLst>
              <a:gd name="adj" fmla="val 340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engine circle"/>
          <p:cNvSpPr/>
          <p:nvPr/>
        </p:nvSpPr>
        <p:spPr>
          <a:xfrm>
            <a:off x="4343400" y="182880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engi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4101" y="1949501"/>
            <a:ext cx="307238" cy="30723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3383280" y="24688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SP_QM_SCAN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detect · classify · dedupe · dispatch · log</a:t>
            </a:r>
            <a:endParaRPr lang="en-US" sz="1600" dirty="0"/>
          </a:p>
        </p:txBody>
      </p:sp>
      <p:sp>
        <p:nvSpPr>
          <p:cNvPr id="15" name="task to engine"/>
          <p:cNvSpPr/>
          <p:nvPr/>
        </p:nvSpPr>
        <p:spPr>
          <a:xfrm>
            <a:off x="2834640" y="2121408"/>
            <a:ext cx="457200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history to engine"/>
          <p:cNvSpPr/>
          <p:nvPr/>
        </p:nvSpPr>
        <p:spPr>
          <a:xfrm flipV="1">
            <a:off x="2834640" y="3108960"/>
            <a:ext cx="457200" cy="246888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locks to engine"/>
          <p:cNvSpPr/>
          <p:nvPr/>
        </p:nvSpPr>
        <p:spPr>
          <a:xfrm flipV="1">
            <a:off x="2834640" y="3566160"/>
            <a:ext cx="457200" cy="978408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table QM_CONFIG"/>
          <p:cNvSpPr/>
          <p:nvPr/>
        </p:nvSpPr>
        <p:spPr>
          <a:xfrm>
            <a:off x="3291840" y="4114800"/>
            <a:ext cx="2651760" cy="265176"/>
          </a:xfrm>
          <a:prstGeom prst="roundRect">
            <a:avLst>
              <a:gd name="adj" fmla="val 1724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383280" y="4114800"/>
            <a:ext cx="2514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QM_CONFIG</a:t>
            </a:r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   thresholds · switches</a:t>
            </a:r>
            <a:endParaRPr lang="en-US" sz="950" dirty="0"/>
          </a:p>
        </p:txBody>
      </p:sp>
      <p:sp>
        <p:nvSpPr>
          <p:cNvPr id="20" name="table QM_ALERT_LOG"/>
          <p:cNvSpPr/>
          <p:nvPr/>
        </p:nvSpPr>
        <p:spPr>
          <a:xfrm>
            <a:off x="3291840" y="4416552"/>
            <a:ext cx="2651760" cy="265176"/>
          </a:xfrm>
          <a:prstGeom prst="roundRect">
            <a:avLst>
              <a:gd name="adj" fmla="val 1724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83280" y="4416552"/>
            <a:ext cx="2514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QM_ALERT_LOG</a:t>
            </a:r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   dedupe · audit</a:t>
            </a:r>
            <a:endParaRPr lang="en-US" sz="950" dirty="0"/>
          </a:p>
        </p:txBody>
      </p:sp>
      <p:sp>
        <p:nvSpPr>
          <p:cNvPr id="22" name="table QM_CHANNEL_STATE"/>
          <p:cNvSpPr/>
          <p:nvPr/>
        </p:nvSpPr>
        <p:spPr>
          <a:xfrm>
            <a:off x="3291840" y="4718304"/>
            <a:ext cx="2651760" cy="265176"/>
          </a:xfrm>
          <a:prstGeom prst="roundRect">
            <a:avLst>
              <a:gd name="adj" fmla="val 1724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383280" y="4718304"/>
            <a:ext cx="2514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QM_CHANNEL_STATE</a:t>
            </a:r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   PagerDuty state</a:t>
            </a:r>
            <a:endParaRPr lang="en-US" sz="950" dirty="0"/>
          </a:p>
        </p:txBody>
      </p:sp>
      <p:sp>
        <p:nvSpPr>
          <p:cNvPr id="24" name="engine to tables"/>
          <p:cNvSpPr/>
          <p:nvPr/>
        </p:nvSpPr>
        <p:spPr>
          <a:xfrm>
            <a:off x="4617720" y="3840480"/>
            <a:ext cx="914" cy="27432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5" name="views"/>
          <p:cNvSpPr/>
          <p:nvPr/>
        </p:nvSpPr>
        <p:spPr>
          <a:xfrm>
            <a:off x="685800" y="5257800"/>
            <a:ext cx="525780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views circle"/>
          <p:cNvSpPr/>
          <p:nvPr/>
        </p:nvSpPr>
        <p:spPr>
          <a:xfrm>
            <a:off x="822960" y="5376672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7" name="view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5497373"/>
            <a:ext cx="307238" cy="307238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463040" y="525780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Admin views 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V_QM_OPEN_ALERTS · V_QM_ALERT_HISTORY · V_QM_MONITOR_HEALTH</a:t>
            </a:r>
            <a:endParaRPr lang="en-US" sz="1100" dirty="0"/>
          </a:p>
        </p:txBody>
      </p:sp>
      <p:sp>
        <p:nvSpPr>
          <p:cNvPr id="29" name="tables to views"/>
          <p:cNvSpPr/>
          <p:nvPr/>
        </p:nvSpPr>
        <p:spPr>
          <a:xfrm>
            <a:off x="4617720" y="4983480"/>
            <a:ext cx="914" cy="27432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0" name="sender SP_QM_SEND_EMAIL"/>
          <p:cNvSpPr/>
          <p:nvPr/>
        </p:nvSpPr>
        <p:spPr>
          <a:xfrm>
            <a:off x="6400800" y="169164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400800" y="1691640"/>
            <a:ext cx="2377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SP_QM_SEND_EMAIL</a:t>
            </a:r>
            <a:endParaRPr lang="en-US" sz="105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QM_EMAIL_INT</a:t>
            </a:r>
            <a:endParaRPr lang="en-US" sz="1050" dirty="0"/>
          </a:p>
        </p:txBody>
      </p:sp>
      <p:sp>
        <p:nvSpPr>
          <p:cNvPr id="32" name="engine to SP_QM_SEND_EMAIL"/>
          <p:cNvSpPr/>
          <p:nvPr/>
        </p:nvSpPr>
        <p:spPr>
          <a:xfrm flipV="1">
            <a:off x="5943600" y="2121408"/>
            <a:ext cx="457200" cy="6400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3" name="SP_QM_SEND_EMAIL out"/>
          <p:cNvSpPr/>
          <p:nvPr/>
        </p:nvSpPr>
        <p:spPr>
          <a:xfrm>
            <a:off x="8778240" y="2121408"/>
            <a:ext cx="502920" cy="914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4" name="Admin mailbox circle"/>
          <p:cNvSpPr/>
          <p:nvPr/>
        </p:nvSpPr>
        <p:spPr>
          <a:xfrm>
            <a:off x="9326880" y="1801368"/>
            <a:ext cx="658368" cy="6583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5" name="Admin mailbox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1721" y="1946209"/>
            <a:ext cx="368686" cy="368686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10104120" y="16916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Admin mailbox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HTML digest</a:t>
            </a:r>
            <a:endParaRPr lang="en-US" sz="1300" dirty="0"/>
          </a:p>
        </p:txBody>
      </p:sp>
      <p:sp>
        <p:nvSpPr>
          <p:cNvPr id="37" name="sender SP_QM_SEND_TEAMS"/>
          <p:cNvSpPr/>
          <p:nvPr/>
        </p:nvSpPr>
        <p:spPr>
          <a:xfrm>
            <a:off x="6400800" y="278892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6400800" y="2788920"/>
            <a:ext cx="2377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SP_QM_SEND_TEAMS</a:t>
            </a:r>
            <a:endParaRPr lang="en-US" sz="105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QM_TEAMS_INT</a:t>
            </a:r>
            <a:endParaRPr lang="en-US" sz="1050" dirty="0"/>
          </a:p>
        </p:txBody>
      </p:sp>
      <p:sp>
        <p:nvSpPr>
          <p:cNvPr id="39" name="engine to SP_QM_SEND_TEAMS"/>
          <p:cNvSpPr/>
          <p:nvPr/>
        </p:nvSpPr>
        <p:spPr>
          <a:xfrm>
            <a:off x="5943600" y="2761488"/>
            <a:ext cx="457200" cy="45720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0" name="SP_QM_SEND_TEAMS out"/>
          <p:cNvSpPr/>
          <p:nvPr/>
        </p:nvSpPr>
        <p:spPr>
          <a:xfrm>
            <a:off x="8778240" y="3218688"/>
            <a:ext cx="50292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1" name="Microsoft Teams circle"/>
          <p:cNvSpPr/>
          <p:nvPr/>
        </p:nvSpPr>
        <p:spPr>
          <a:xfrm>
            <a:off x="9326880" y="2898648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2" name="Microsoft Team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1721" y="3043489"/>
            <a:ext cx="368686" cy="368686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10104120" y="27889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Microsoft Teams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Workflows webhook</a:t>
            </a:r>
            <a:endParaRPr lang="en-US" sz="1300" dirty="0"/>
          </a:p>
        </p:txBody>
      </p:sp>
      <p:sp>
        <p:nvSpPr>
          <p:cNvPr id="44" name="sender SP_QM_SEND_SLACK"/>
          <p:cNvSpPr/>
          <p:nvPr/>
        </p:nvSpPr>
        <p:spPr>
          <a:xfrm>
            <a:off x="6400800" y="388620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6400800" y="3886200"/>
            <a:ext cx="2377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SP_QM_SEND_SLACK</a:t>
            </a:r>
            <a:endParaRPr lang="en-US" sz="105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QM_SLACK_INT</a:t>
            </a:r>
            <a:endParaRPr lang="en-US" sz="1050" dirty="0"/>
          </a:p>
        </p:txBody>
      </p:sp>
      <p:sp>
        <p:nvSpPr>
          <p:cNvPr id="46" name="engine to SP_QM_SEND_SLACK"/>
          <p:cNvSpPr/>
          <p:nvPr/>
        </p:nvSpPr>
        <p:spPr>
          <a:xfrm>
            <a:off x="5943600" y="2761488"/>
            <a:ext cx="457200" cy="15544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7" name="SP_QM_SEND_SLACK out"/>
          <p:cNvSpPr/>
          <p:nvPr/>
        </p:nvSpPr>
        <p:spPr>
          <a:xfrm>
            <a:off x="8778240" y="4315968"/>
            <a:ext cx="502920" cy="914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8" name="Slack circle"/>
          <p:cNvSpPr/>
          <p:nvPr/>
        </p:nvSpPr>
        <p:spPr>
          <a:xfrm>
            <a:off x="9326880" y="3995928"/>
            <a:ext cx="658368" cy="6583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9" name="Slack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1721" y="4140769"/>
            <a:ext cx="368686" cy="368686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10104120" y="38862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Slack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incoming webhook</a:t>
            </a:r>
            <a:endParaRPr lang="en-US" sz="1300" dirty="0"/>
          </a:p>
        </p:txBody>
      </p:sp>
      <p:sp>
        <p:nvSpPr>
          <p:cNvPr id="51" name="sender SP_QM_SEND_PAGERDUTY"/>
          <p:cNvSpPr/>
          <p:nvPr/>
        </p:nvSpPr>
        <p:spPr>
          <a:xfrm>
            <a:off x="6400800" y="498348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6400800" y="4983480"/>
            <a:ext cx="2377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SP_QM_SEND_PAGERDUTY</a:t>
            </a:r>
            <a:endParaRPr lang="en-US" sz="105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TRIGGER / RESOLVE ints</a:t>
            </a:r>
            <a:endParaRPr lang="en-US" sz="1050" dirty="0"/>
          </a:p>
        </p:txBody>
      </p:sp>
      <p:sp>
        <p:nvSpPr>
          <p:cNvPr id="53" name="engine to SP_QM_SEND_PAGERDUTY"/>
          <p:cNvSpPr/>
          <p:nvPr/>
        </p:nvSpPr>
        <p:spPr>
          <a:xfrm>
            <a:off x="5943600" y="2761488"/>
            <a:ext cx="457200" cy="26517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4" name="SP_QM_SEND_PAGERDUTY out"/>
          <p:cNvSpPr/>
          <p:nvPr/>
        </p:nvSpPr>
        <p:spPr>
          <a:xfrm>
            <a:off x="8778240" y="5413248"/>
            <a:ext cx="502920" cy="91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55" name="PagerDuty circle"/>
          <p:cNvSpPr/>
          <p:nvPr/>
        </p:nvSpPr>
        <p:spPr>
          <a:xfrm>
            <a:off x="9326880" y="5093208"/>
            <a:ext cx="658368" cy="6583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6" name="PagerDuty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1721" y="5238049"/>
            <a:ext cx="368686" cy="368686"/>
          </a:xfrm>
          <a:prstGeom prst="rect">
            <a:avLst/>
          </a:prstGeom>
        </p:spPr>
      </p:pic>
      <p:sp>
        <p:nvSpPr>
          <p:cNvPr id="57" name="Text 49"/>
          <p:cNvSpPr txBox="1"/>
          <p:nvPr/>
        </p:nvSpPr>
        <p:spPr>
          <a:xfrm>
            <a:off x="10104120" y="498348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PagerDuty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Events API v2 incident</a:t>
            </a:r>
            <a:endParaRPr lang="en-US" sz="1300" dirty="0"/>
          </a:p>
        </p:txBody>
      </p:sp>
      <p:sp>
        <p:nvSpPr>
          <p:cNvPr id="58" name="Text 50"/>
          <p:cNvSpPr txBox="1"/>
          <p:nvPr/>
        </p:nvSpPr>
        <p:spPr>
          <a:xfrm>
            <a:off x="9326880" y="1261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External channels</a:t>
            </a:r>
            <a:endParaRPr lang="en-US" sz="1100" dirty="0"/>
          </a:p>
        </p:txBody>
      </p:sp>
      <p:sp>
        <p:nvSpPr>
          <p:cNvPr id="59" name="Text 51"/>
          <p:cNvSpPr txBox="1"/>
          <p:nvPr/>
        </p:nvSpPr>
        <p:spPr>
          <a:xfrm>
            <a:off x="9326880" y="5806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tx1"/>
                </a:solidFill>
              </a:rPr>
              <a:t>Channels run independently; one failing never blocks the others. Tokens are stored as Snowflake secrets.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flow, every minute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548640" y="1828800"/>
            <a:ext cx="1463040" cy="26974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1005840" y="141732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Read config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651760"/>
            <a:ext cx="12435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Thresholds, exclusions and channel switches from QM_CONFIG</a:t>
            </a:r>
            <a:endParaRPr lang="en-US" sz="1300" dirty="0"/>
          </a:p>
        </p:txBody>
      </p:sp>
      <p:sp>
        <p:nvSpPr>
          <p:cNvPr id="8" name="flow 1"/>
          <p:cNvSpPr/>
          <p:nvPr/>
        </p:nvSpPr>
        <p:spPr>
          <a:xfrm>
            <a:off x="2011680" y="3154680"/>
            <a:ext cx="13716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tep 2"/>
          <p:cNvSpPr/>
          <p:nvPr/>
        </p:nvSpPr>
        <p:spPr>
          <a:xfrm>
            <a:off x="2148840" y="1828800"/>
            <a:ext cx="1463040" cy="26974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2606040" y="141732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Collect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58568" y="2651760"/>
            <a:ext cx="12435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In-flight queries per warehouse from real-time query history</a:t>
            </a:r>
            <a:endParaRPr lang="en-US" sz="1300" dirty="0"/>
          </a:p>
        </p:txBody>
      </p:sp>
      <p:sp>
        <p:nvSpPr>
          <p:cNvPr id="14" name="flow 2"/>
          <p:cNvSpPr/>
          <p:nvPr/>
        </p:nvSpPr>
        <p:spPr>
          <a:xfrm>
            <a:off x="3611880" y="3154680"/>
            <a:ext cx="13716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tep 3"/>
          <p:cNvSpPr/>
          <p:nvPr/>
        </p:nvSpPr>
        <p:spPr>
          <a:xfrm>
            <a:off x="3749040" y="1828800"/>
            <a:ext cx="1463040" cy="26974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badge 3"/>
          <p:cNvSpPr/>
          <p:nvPr/>
        </p:nvSpPr>
        <p:spPr>
          <a:xfrm>
            <a:off x="4206240" y="141732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Measure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858768" y="2651760"/>
            <a:ext cx="12435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Executing minutes for RUNNING; wait minutes for QUEUED and BLOCKED</a:t>
            </a:r>
            <a:endParaRPr lang="en-US" sz="1300" dirty="0"/>
          </a:p>
        </p:txBody>
      </p:sp>
      <p:sp>
        <p:nvSpPr>
          <p:cNvPr id="20" name="flow 3"/>
          <p:cNvSpPr/>
          <p:nvPr/>
        </p:nvSpPr>
        <p:spPr>
          <a:xfrm>
            <a:off x="5212080" y="3154680"/>
            <a:ext cx="13716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step 4"/>
          <p:cNvSpPr/>
          <p:nvPr/>
        </p:nvSpPr>
        <p:spPr>
          <a:xfrm>
            <a:off x="5349240" y="1828800"/>
            <a:ext cx="1463040" cy="26974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badge 4"/>
          <p:cNvSpPr/>
          <p:nvPr/>
        </p:nvSpPr>
        <p:spPr>
          <a:xfrm>
            <a:off x="5806440" y="141732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064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44068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Lock holder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58968" y="2651760"/>
            <a:ext cx="12435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SHOW LOCKS joins WAITING to HOLDING on the same table</a:t>
            </a:r>
            <a:endParaRPr lang="en-US" sz="1300" dirty="0"/>
          </a:p>
        </p:txBody>
      </p:sp>
      <p:sp>
        <p:nvSpPr>
          <p:cNvPr id="26" name="flow 4"/>
          <p:cNvSpPr/>
          <p:nvPr/>
        </p:nvSpPr>
        <p:spPr>
          <a:xfrm>
            <a:off x="6812280" y="3154680"/>
            <a:ext cx="13716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step 5"/>
          <p:cNvSpPr/>
          <p:nvPr/>
        </p:nvSpPr>
        <p:spPr>
          <a:xfrm>
            <a:off x="6949440" y="1828800"/>
            <a:ext cx="1463040" cy="26974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badge 5"/>
          <p:cNvSpPr/>
          <p:nvPr/>
        </p:nvSpPr>
        <p:spPr>
          <a:xfrm>
            <a:off x="7406640" y="141732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06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Decide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059168" y="2651760"/>
            <a:ext cx="12435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New, or open past 30 min; PagerDuty only for escalations</a:t>
            </a:r>
            <a:endParaRPr lang="en-US" sz="1300" dirty="0"/>
          </a:p>
        </p:txBody>
      </p:sp>
      <p:sp>
        <p:nvSpPr>
          <p:cNvPr id="32" name="flow 5"/>
          <p:cNvSpPr/>
          <p:nvPr/>
        </p:nvSpPr>
        <p:spPr>
          <a:xfrm>
            <a:off x="8412480" y="3154680"/>
            <a:ext cx="13716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3" name="step 6"/>
          <p:cNvSpPr/>
          <p:nvPr/>
        </p:nvSpPr>
        <p:spPr>
          <a:xfrm>
            <a:off x="8549640" y="1828800"/>
            <a:ext cx="1463040" cy="26974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4" name="badge 6"/>
          <p:cNvSpPr/>
          <p:nvPr/>
        </p:nvSpPr>
        <p:spPr>
          <a:xfrm>
            <a:off x="9006840" y="141732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068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864108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Dispatch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659368" y="2651760"/>
            <a:ext cx="12435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Digest to e-mail, Teams, Slack; trigger or resolve PagerDuty</a:t>
            </a:r>
            <a:endParaRPr lang="en-US" sz="1300" dirty="0"/>
          </a:p>
        </p:txBody>
      </p:sp>
      <p:sp>
        <p:nvSpPr>
          <p:cNvPr id="38" name="flow 6"/>
          <p:cNvSpPr/>
          <p:nvPr/>
        </p:nvSpPr>
        <p:spPr>
          <a:xfrm>
            <a:off x="10012680" y="3154680"/>
            <a:ext cx="13716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9" name="step 7"/>
          <p:cNvSpPr/>
          <p:nvPr/>
        </p:nvSpPr>
        <p:spPr>
          <a:xfrm>
            <a:off x="10149840" y="1828800"/>
            <a:ext cx="1463040" cy="26974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badge 7"/>
          <p:cNvSpPr/>
          <p:nvPr/>
        </p:nvSpPr>
        <p:spPr>
          <a:xfrm>
            <a:off x="10607040" y="141732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6070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Log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0259568" y="2651760"/>
            <a:ext cx="12435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Upsert QM_ALERT_LOG; resolve alerts that cleared</a:t>
            </a:r>
            <a:endParaRPr lang="en-US" sz="1300" dirty="0"/>
          </a:p>
        </p:txBody>
      </p:sp>
      <p:sp>
        <p:nvSpPr>
          <p:cNvPr id="44" name="rules panel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7240" y="48920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Executing minutes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elapsed since start minus queued, provisioning, repair and lock time.    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Re-notify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same query and alert type is repeated at most every 30 min while it stays open.    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Isolation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each channel call has its own error handler.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channels</a:t>
            </a:r>
            <a:endParaRPr lang="en-US" sz="3000" dirty="0"/>
          </a:p>
        </p:txBody>
      </p:sp>
      <p:sp>
        <p:nvSpPr>
          <p:cNvPr id="3" name="channel card E-mail"/>
          <p:cNvSpPr/>
          <p:nvPr/>
        </p:nvSpPr>
        <p:spPr>
          <a:xfrm>
            <a:off x="548640" y="1325880"/>
            <a:ext cx="2651760" cy="48920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-mail circle"/>
          <p:cNvSpPr/>
          <p:nvPr/>
        </p:nvSpPr>
        <p:spPr>
          <a:xfrm>
            <a:off x="777240" y="150876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E-mai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65963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087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E-mail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PURPOSE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Admin list, audit trail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337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FORMAT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HTML table with action SQL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251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VOLUME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526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 digest per run, max 25 rows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5166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SETUP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5440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Verified Snowflake user e-mails</a:t>
            </a:r>
            <a:endParaRPr lang="en-US" sz="1300" dirty="0"/>
          </a:p>
        </p:txBody>
      </p:sp>
      <p:sp>
        <p:nvSpPr>
          <p:cNvPr id="15" name="channel card Microsoft Teams"/>
          <p:cNvSpPr/>
          <p:nvPr/>
        </p:nvSpPr>
        <p:spPr>
          <a:xfrm>
            <a:off x="3360420" y="1325880"/>
            <a:ext cx="2651760" cy="48920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Microsoft Teams circle"/>
          <p:cNvSpPr/>
          <p:nvPr/>
        </p:nvSpPr>
        <p:spPr>
          <a:xfrm>
            <a:off x="3589020" y="15087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Microsoft Team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96" y="1659636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366260" y="15087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Microsoft Teams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3589020" y="2423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PURPOSE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358902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Admin channel awareness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3589020" y="3337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FORMAT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358902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Adaptive Card list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3589020" y="4251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VOLUME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3589020" y="4526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Same digest as e-mail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3589020" y="5166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SETUP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3589020" y="5440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Workflows webhook URL, id as secret</a:t>
            </a:r>
            <a:endParaRPr lang="en-US" sz="1300" dirty="0"/>
          </a:p>
        </p:txBody>
      </p:sp>
      <p:sp>
        <p:nvSpPr>
          <p:cNvPr id="27" name="channel card Slack"/>
          <p:cNvSpPr/>
          <p:nvPr/>
        </p:nvSpPr>
        <p:spPr>
          <a:xfrm>
            <a:off x="6172200" y="1325880"/>
            <a:ext cx="2651760" cy="48920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lack circle"/>
          <p:cNvSpPr/>
          <p:nvPr/>
        </p:nvSpPr>
        <p:spPr>
          <a:xfrm>
            <a:off x="6400800" y="15087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Slack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1659636"/>
            <a:ext cx="384048" cy="38404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178040" y="15087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Slack</a:t>
            </a:r>
            <a:endParaRPr lang="en-US" sz="1700" dirty="0"/>
          </a:p>
        </p:txBody>
      </p:sp>
      <p:sp>
        <p:nvSpPr>
          <p:cNvPr id="31" name="Text 26"/>
          <p:cNvSpPr txBox="1"/>
          <p:nvPr/>
        </p:nvSpPr>
        <p:spPr>
          <a:xfrm>
            <a:off x="6400800" y="2423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PURPOSE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640080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Admin channel, if Slack is used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6400800" y="3337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FORMAT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640080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mrkdwn bullet list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6400800" y="4251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VOLUME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6400800" y="4526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Same digest as e-mail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6400800" y="5166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SETUP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6400800" y="5440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Incoming webhook, path as secret</a:t>
            </a:r>
            <a:endParaRPr lang="en-US" sz="1300" dirty="0"/>
          </a:p>
        </p:txBody>
      </p:sp>
      <p:sp>
        <p:nvSpPr>
          <p:cNvPr id="39" name="channel card PagerDuty"/>
          <p:cNvSpPr/>
          <p:nvPr/>
        </p:nvSpPr>
        <p:spPr>
          <a:xfrm>
            <a:off x="8983980" y="1325880"/>
            <a:ext cx="2651760" cy="48920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PagerDuty circle"/>
          <p:cNvSpPr/>
          <p:nvPr/>
        </p:nvSpPr>
        <p:spPr>
          <a:xfrm>
            <a:off x="9212580" y="150876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PagerDuty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1659636"/>
            <a:ext cx="384048" cy="384048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9989820" y="15087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PagerDuty</a:t>
            </a:r>
            <a:endParaRPr lang="en-US" sz="1700" dirty="0"/>
          </a:p>
        </p:txBody>
      </p:sp>
      <p:sp>
        <p:nvSpPr>
          <p:cNvPr id="43" name="Text 37"/>
          <p:cNvSpPr txBox="1"/>
          <p:nvPr/>
        </p:nvSpPr>
        <p:spPr>
          <a:xfrm>
            <a:off x="9212580" y="2423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PURPOSE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921258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On-call escalation only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9212580" y="3337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FORMAT</a:t>
            </a:r>
            <a:endParaRPr lang="en-US" sz="1000" dirty="0"/>
          </a:p>
        </p:txBody>
      </p:sp>
      <p:sp>
        <p:nvSpPr>
          <p:cNvPr id="46" name="Text 40"/>
          <p:cNvSpPr txBox="1"/>
          <p:nvPr/>
        </p:nvSpPr>
        <p:spPr>
          <a:xfrm>
            <a:off x="921258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Events API v2, severity error</a:t>
            </a:r>
            <a:endParaRPr lang="en-US" sz="1300" dirty="0"/>
          </a:p>
        </p:txBody>
      </p:sp>
      <p:sp>
        <p:nvSpPr>
          <p:cNvPr id="47" name="Text 41"/>
          <p:cNvSpPr txBox="1"/>
          <p:nvPr/>
        </p:nvSpPr>
        <p:spPr>
          <a:xfrm>
            <a:off x="9212580" y="4251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VOLUME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9212580" y="4526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 incident per account, auto-resolve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9212580" y="5166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SETUP</a:t>
            </a:r>
            <a:endParaRPr lang="en-US" sz="1000" dirty="0"/>
          </a:p>
        </p:txBody>
      </p:sp>
      <p:sp>
        <p:nvSpPr>
          <p:cNvPr id="50" name="Text 44"/>
          <p:cNvSpPr txBox="1"/>
          <p:nvPr/>
        </p:nvSpPr>
        <p:spPr>
          <a:xfrm>
            <a:off x="9212580" y="5440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Events v2 routing key as secret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PagerDuty: escalation and auto-resolve</a:t>
            </a:r>
            <a:endParaRPr lang="en-US" sz="3000" dirty="0"/>
          </a:p>
        </p:txBody>
      </p:sp>
      <p:sp>
        <p:nvSpPr>
          <p:cNvPr id="3" name="state closed"/>
          <p:cNvSpPr/>
          <p:nvPr/>
        </p:nvSpPr>
        <p:spPr>
          <a:xfrm>
            <a:off x="822960" y="2194560"/>
            <a:ext cx="23774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1945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CLOSED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 open incident</a:t>
            </a:r>
            <a:endParaRPr lang="en-US" sz="2200" dirty="0"/>
          </a:p>
        </p:txBody>
      </p:sp>
      <p:sp>
        <p:nvSpPr>
          <p:cNvPr id="5" name="state open"/>
          <p:cNvSpPr/>
          <p:nvPr/>
        </p:nvSpPr>
        <p:spPr>
          <a:xfrm>
            <a:off x="5120640" y="2194560"/>
            <a:ext cx="2377440" cy="1280160"/>
          </a:xfrm>
          <a:prstGeom prst="roundRect">
            <a:avLst>
              <a:gd name="adj" fmla="val 571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20640" y="21945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OPEN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one incident per account</a:t>
            </a:r>
            <a:endParaRPr lang="en-US" sz="2200" dirty="0"/>
          </a:p>
        </p:txBody>
      </p:sp>
      <p:sp>
        <p:nvSpPr>
          <p:cNvPr id="7" name="trigger arrow"/>
          <p:cNvSpPr/>
          <p:nvPr/>
        </p:nvSpPr>
        <p:spPr>
          <a:xfrm>
            <a:off x="3200400" y="2468880"/>
            <a:ext cx="1920240" cy="91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324612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trigger: page-eligible query found</a:t>
            </a:r>
            <a:endParaRPr lang="en-US" sz="1100" dirty="0"/>
          </a:p>
        </p:txBody>
      </p:sp>
      <p:sp>
        <p:nvSpPr>
          <p:cNvPr id="9" name="resolve arrow"/>
          <p:cNvSpPr/>
          <p:nvPr/>
        </p:nvSpPr>
        <p:spPr>
          <a:xfrm flipH="1">
            <a:off x="3200400" y="3200400"/>
            <a:ext cx="1920240" cy="914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324612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resolve: nothing eligible left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611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↻  still eligible after 30 min: trigger again (updates the same incident)</a:t>
            </a:r>
            <a:endParaRPr lang="en-US" sz="1100" dirty="0"/>
          </a:p>
        </p:txBody>
      </p:sp>
      <p:sp>
        <p:nvSpPr>
          <p:cNvPr id="12" name="template note"/>
          <p:cNvSpPr/>
          <p:nvPr/>
        </p:nvSpPr>
        <p:spPr>
          <a:xfrm>
            <a:off x="822960" y="4480560"/>
            <a:ext cx="66751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4480560"/>
            <a:ext cx="6217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Two integrations, one secret.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Snowflake webhook templates are static, so QM_PAGERDUTY_TRIGGER_INT and QM_PAGERDUTY_RESOLVE_INT share the routing key and a fixed dedup_key. Incident state is tracked in QM_CHANNEL_STATE. Give each Snowflake account its own dedup_key.</a:t>
            </a:r>
            <a:endParaRPr lang="en-US" sz="1300" dirty="0"/>
          </a:p>
        </p:txBody>
      </p:sp>
      <p:sp>
        <p:nvSpPr>
          <p:cNvPr id="14" name="policy panel"/>
          <p:cNvSpPr/>
          <p:nvPr/>
        </p:nvSpPr>
        <p:spPr>
          <a:xfrm>
            <a:off x="8046720" y="1325880"/>
            <a:ext cx="3566160" cy="4754880"/>
          </a:xfrm>
          <a:prstGeom prst="roundRect">
            <a:avLst>
              <a:gd name="adj" fmla="val 205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Paging policy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TYPES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LONG_RUNNING, BLOCKED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898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ESCALATION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172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query at 30 min or more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6484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RE-TRIGGER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9227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every 30 min while eligible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43982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SEVERITY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6725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error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5148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AUTO-RESOLVE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5422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on, configurable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code: one script per concern</a:t>
            </a:r>
            <a:endParaRPr lang="en-US" sz="3000" dirty="0"/>
          </a:p>
        </p:txBody>
      </p:sp>
      <p:sp>
        <p:nvSpPr>
          <p:cNvPr id="3" name="module 00"/>
          <p:cNvSpPr/>
          <p:nvPr/>
        </p:nvSpPr>
        <p:spPr>
          <a:xfrm>
            <a:off x="548640" y="1325880"/>
            <a:ext cx="22402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00"/>
          <p:cNvSpPr/>
          <p:nvPr/>
        </p:nvSpPr>
        <p:spPr>
          <a:xfrm>
            <a:off x="685800" y="1490472"/>
            <a:ext cx="56692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90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08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FOUNDATION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47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Setup role and database</a:t>
            </a:r>
            <a:endParaRPr lang="en-US" sz="1300" dirty="0"/>
          </a:p>
        </p:txBody>
      </p:sp>
      <p:sp>
        <p:nvSpPr>
          <p:cNvPr id="8" name="module 01"/>
          <p:cNvSpPr/>
          <p:nvPr/>
        </p:nvSpPr>
        <p:spPr>
          <a:xfrm>
            <a:off x="2926080" y="1325880"/>
            <a:ext cx="22402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 01"/>
          <p:cNvSpPr/>
          <p:nvPr/>
        </p:nvSpPr>
        <p:spPr>
          <a:xfrm>
            <a:off x="3063240" y="1490472"/>
            <a:ext cx="56692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63240" y="1490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508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FOUNDATION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1947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Config and log tables</a:t>
            </a:r>
            <a:endParaRPr lang="en-US" sz="1300" dirty="0"/>
          </a:p>
        </p:txBody>
      </p:sp>
      <p:sp>
        <p:nvSpPr>
          <p:cNvPr id="13" name="module 02"/>
          <p:cNvSpPr/>
          <p:nvPr/>
        </p:nvSpPr>
        <p:spPr>
          <a:xfrm>
            <a:off x="5303520" y="1325880"/>
            <a:ext cx="22402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02"/>
          <p:cNvSpPr/>
          <p:nvPr/>
        </p:nvSpPr>
        <p:spPr>
          <a:xfrm>
            <a:off x="5440680" y="1490472"/>
            <a:ext cx="56692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0680" y="1490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1508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CHANNEL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1947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Channel: e-mail</a:t>
            </a:r>
            <a:endParaRPr lang="en-US" sz="1300" dirty="0"/>
          </a:p>
        </p:txBody>
      </p:sp>
      <p:sp>
        <p:nvSpPr>
          <p:cNvPr id="18" name="module 03"/>
          <p:cNvSpPr/>
          <p:nvPr/>
        </p:nvSpPr>
        <p:spPr>
          <a:xfrm>
            <a:off x="548640" y="2542032"/>
            <a:ext cx="22402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 03"/>
          <p:cNvSpPr/>
          <p:nvPr/>
        </p:nvSpPr>
        <p:spPr>
          <a:xfrm>
            <a:off x="685800" y="2706624"/>
            <a:ext cx="56692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270662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27249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CHANNEL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1638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Channel: Teams</a:t>
            </a:r>
            <a:endParaRPr lang="en-US" sz="1300" dirty="0"/>
          </a:p>
        </p:txBody>
      </p:sp>
      <p:sp>
        <p:nvSpPr>
          <p:cNvPr id="23" name="module 04"/>
          <p:cNvSpPr/>
          <p:nvPr/>
        </p:nvSpPr>
        <p:spPr>
          <a:xfrm>
            <a:off x="2926080" y="2542032"/>
            <a:ext cx="22402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 04"/>
          <p:cNvSpPr/>
          <p:nvPr/>
        </p:nvSpPr>
        <p:spPr>
          <a:xfrm>
            <a:off x="3063240" y="2706624"/>
            <a:ext cx="56692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63240" y="270662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749040" y="27249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CHANNEL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3063240" y="31638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Channel: Slack</a:t>
            </a:r>
            <a:endParaRPr lang="en-US" sz="1300" dirty="0"/>
          </a:p>
        </p:txBody>
      </p:sp>
      <p:sp>
        <p:nvSpPr>
          <p:cNvPr id="28" name="module 05"/>
          <p:cNvSpPr/>
          <p:nvPr/>
        </p:nvSpPr>
        <p:spPr>
          <a:xfrm>
            <a:off x="5303520" y="2542032"/>
            <a:ext cx="22402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 05"/>
          <p:cNvSpPr/>
          <p:nvPr/>
        </p:nvSpPr>
        <p:spPr>
          <a:xfrm>
            <a:off x="5440680" y="2706624"/>
            <a:ext cx="56692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40680" y="270662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126480" y="27249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CHANNEL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440680" y="31638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Channel: PagerDuty</a:t>
            </a:r>
            <a:endParaRPr lang="en-US" sz="1300" dirty="0"/>
          </a:p>
        </p:txBody>
      </p:sp>
      <p:sp>
        <p:nvSpPr>
          <p:cNvPr id="33" name="module 06"/>
          <p:cNvSpPr/>
          <p:nvPr/>
        </p:nvSpPr>
        <p:spPr>
          <a:xfrm>
            <a:off x="548640" y="3758184"/>
            <a:ext cx="22402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badge 06"/>
          <p:cNvSpPr/>
          <p:nvPr/>
        </p:nvSpPr>
        <p:spPr>
          <a:xfrm>
            <a:off x="685800" y="3922776"/>
            <a:ext cx="56692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392277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371600" y="39410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ENGINE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43799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Engine SP_QM_SCAN</a:t>
            </a:r>
            <a:endParaRPr lang="en-US" sz="1300" dirty="0"/>
          </a:p>
        </p:txBody>
      </p:sp>
      <p:sp>
        <p:nvSpPr>
          <p:cNvPr id="38" name="module 07"/>
          <p:cNvSpPr/>
          <p:nvPr/>
        </p:nvSpPr>
        <p:spPr>
          <a:xfrm>
            <a:off x="2926080" y="3758184"/>
            <a:ext cx="22402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badge 07"/>
          <p:cNvSpPr/>
          <p:nvPr/>
        </p:nvSpPr>
        <p:spPr>
          <a:xfrm>
            <a:off x="3063240" y="3922776"/>
            <a:ext cx="56692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063240" y="392277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3749040" y="39410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SCHEDULE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3063240" y="43799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Task schedule</a:t>
            </a:r>
            <a:endParaRPr lang="en-US" sz="1300" dirty="0"/>
          </a:p>
        </p:txBody>
      </p:sp>
      <p:sp>
        <p:nvSpPr>
          <p:cNvPr id="43" name="module 08"/>
          <p:cNvSpPr/>
          <p:nvPr/>
        </p:nvSpPr>
        <p:spPr>
          <a:xfrm>
            <a:off x="5303520" y="3758184"/>
            <a:ext cx="22402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badge 08"/>
          <p:cNvSpPr/>
          <p:nvPr/>
        </p:nvSpPr>
        <p:spPr>
          <a:xfrm>
            <a:off x="5440680" y="3922776"/>
            <a:ext cx="56692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40680" y="392277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126480" y="39410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CONSUMPTION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5440680" y="43799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Admin views</a:t>
            </a:r>
            <a:endParaRPr lang="en-US" sz="1300" dirty="0"/>
          </a:p>
        </p:txBody>
      </p:sp>
      <p:sp>
        <p:nvSpPr>
          <p:cNvPr id="48" name="module 09"/>
          <p:cNvSpPr/>
          <p:nvPr/>
        </p:nvSpPr>
        <p:spPr>
          <a:xfrm>
            <a:off x="548640" y="4974336"/>
            <a:ext cx="22402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9" name="badge 09"/>
          <p:cNvSpPr/>
          <p:nvPr/>
        </p:nvSpPr>
        <p:spPr>
          <a:xfrm>
            <a:off x="685800" y="5138928"/>
            <a:ext cx="56692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85800" y="513892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1371600" y="51572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OPERATE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685800" y="55961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Test and operate</a:t>
            </a:r>
            <a:endParaRPr lang="en-US" sz="1300" dirty="0"/>
          </a:p>
        </p:txBody>
      </p:sp>
      <p:sp>
        <p:nvSpPr>
          <p:cNvPr id="53" name="module 10"/>
          <p:cNvSpPr/>
          <p:nvPr/>
        </p:nvSpPr>
        <p:spPr>
          <a:xfrm>
            <a:off x="2926080" y="4974336"/>
            <a:ext cx="22402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4" name="badge 10"/>
          <p:cNvSpPr/>
          <p:nvPr/>
        </p:nvSpPr>
        <p:spPr>
          <a:xfrm>
            <a:off x="3063240" y="5138928"/>
            <a:ext cx="566928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063240" y="513892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3749040" y="51572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PREVENTION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3063240" y="55961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Guardrails, optional</a:t>
            </a:r>
            <a:endParaRPr lang="en-US" sz="1300" dirty="0"/>
          </a:p>
        </p:txBody>
      </p:sp>
      <p:sp>
        <p:nvSpPr>
          <p:cNvPr id="58" name="module 99"/>
          <p:cNvSpPr/>
          <p:nvPr/>
        </p:nvSpPr>
        <p:spPr>
          <a:xfrm>
            <a:off x="5303520" y="4974336"/>
            <a:ext cx="22402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9" name="badge 99"/>
          <p:cNvSpPr/>
          <p:nvPr/>
        </p:nvSpPr>
        <p:spPr>
          <a:xfrm>
            <a:off x="5440680" y="5138928"/>
            <a:ext cx="566928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440680" y="513892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6126480" y="51572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REMOVE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5440680" y="55961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Teardown</a:t>
            </a:r>
            <a:endParaRPr lang="en-US" sz="1300" dirty="0"/>
          </a:p>
        </p:txBody>
      </p:sp>
      <p:sp>
        <p:nvSpPr>
          <p:cNvPr id="63" name="contract panel"/>
          <p:cNvSpPr/>
          <p:nvPr/>
        </p:nvSpPr>
        <p:spPr>
          <a:xfrm>
            <a:off x="7863840" y="1325880"/>
            <a:ext cx="3749040" cy="4727448"/>
          </a:xfrm>
          <a:prstGeom prst="roundRect">
            <a:avLst>
              <a:gd name="adj" fmla="val 195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13816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Channel contract</a:t>
            </a:r>
            <a:endParaRPr lang="en-US" sz="1800" dirty="0"/>
          </a:p>
        </p:txBody>
      </p:sp>
      <p:sp>
        <p:nvSpPr>
          <p:cNvPr id="65" name="contract A"/>
          <p:cNvSpPr/>
          <p:nvPr/>
        </p:nvSpPr>
        <p:spPr>
          <a:xfrm>
            <a:off x="8138160" y="21488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1381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67" name="Text 65"/>
          <p:cNvSpPr txBox="1"/>
          <p:nvPr/>
        </p:nvSpPr>
        <p:spPr>
          <a:xfrm>
            <a:off x="8823960" y="20574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Secret and notification integration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ACCOUNTADMIN</a:t>
            </a:r>
            <a:endParaRPr lang="en-US" sz="1300" dirty="0"/>
          </a:p>
        </p:txBody>
      </p:sp>
      <p:sp>
        <p:nvSpPr>
          <p:cNvPr id="68" name="contract B"/>
          <p:cNvSpPr/>
          <p:nvPr/>
        </p:nvSpPr>
        <p:spPr>
          <a:xfrm>
            <a:off x="8138160" y="32004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1381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70" name="Text 68"/>
          <p:cNvSpPr txBox="1"/>
          <p:nvPr/>
        </p:nvSpPr>
        <p:spPr>
          <a:xfrm>
            <a:off x="8823960" y="3108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Sender SP_QM_SEND_{CHANNEL}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formats session temp table QM_CANDIDATES</a:t>
            </a:r>
            <a:endParaRPr lang="en-US" sz="1300" dirty="0"/>
          </a:p>
        </p:txBody>
      </p:sp>
      <p:sp>
        <p:nvSpPr>
          <p:cNvPr id="71" name="contract C"/>
          <p:cNvSpPr/>
          <p:nvPr/>
        </p:nvSpPr>
        <p:spPr>
          <a:xfrm>
            <a:off x="8138160" y="42519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1381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73" name="Text 71"/>
          <p:cNvSpPr txBox="1"/>
          <p:nvPr/>
        </p:nvSpPr>
        <p:spPr>
          <a:xfrm>
            <a:off x="8823960" y="41605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Enable switch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{CHANNEL}_ENABLED = TRUE in QM_CONFIG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8138160" y="5257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Add Opsgenie, ServiceNow or Google Chat by copying a channel module and adding one IF block in SP_QM_SCAN.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and privileges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4066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651760"/>
                <a:gridCol w="2468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Need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Grant to OPS_QUERY_MONITOR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Note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See all users' queries in real time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MONITOR on every warehouse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Re-run the grant block when a warehouse is created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Run the serverless task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EXECUTE TASK, EXECUTE MANAGED TASK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 warehouse to manage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Send notifications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USAGE on integrations and secrets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Tokens never appear in code or logs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Identify the lock holder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SHOW LOCKS IN ACCOUNT needs ACCOUNTADMIN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Without it, blocked queries still alert, no holder id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Setup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ACCOUNTADMIN, once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Scripts 00 and 02 to 05, section A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privacy panel"/>
          <p:cNvSpPr/>
          <p:nvPr/>
        </p:nvSpPr>
        <p:spPr>
          <a:xfrm>
            <a:off x="8321040" y="1325880"/>
            <a:ext cx="3291840" cy="475488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ivacy circle"/>
          <p:cNvSpPr/>
          <p:nvPr/>
        </p:nvSpPr>
        <p:spPr>
          <a:xfrm>
            <a:off x="8549640" y="155448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privac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0574" y="1715414"/>
            <a:ext cx="409651" cy="40965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41832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Privacy by default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549640" y="2514600"/>
            <a:ext cx="2880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Query text excluded from messages (INCLUDE_QUERY_TEXT = FALSE)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Webhook tokens stored as Snowflake secrets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E-mail only to verified Snowflake users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IMPORTED PRIVILEGES on the SNOWFLAKE database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 and limitations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572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Topic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Decision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Why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Real-time source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INFORMATION_SCHEMA query history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ACCOUNT_USAGE.QUERY_HISTORY lags up to about 45 min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Polling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Serverless task every minute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 native event for a query passing N minutes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Task, not alert object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Loop over warehouses, multi-channel dispatch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An alert condition must be a single query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Per-warehouse scan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Up to 10,000 recent queries each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 busy warehouse cannot hide another's query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Alert fatigue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Digest, 30 min re-notify, exclusions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PagerDuty only for escalations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Cost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One XSMALL serverless run per minute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Typically seconds of compute; 2-minute schedule halves it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Known limit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Warehouse-less queries not covered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Metadata-only statements rarely run long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and operate</a:t>
            </a:r>
            <a:endParaRPr lang="en-US" sz="3000" dirty="0"/>
          </a:p>
        </p:txBody>
      </p:sp>
      <p:sp>
        <p:nvSpPr>
          <p:cNvPr id="3" name="deploy badge 1"/>
          <p:cNvSpPr/>
          <p:nvPr/>
        </p:nvSpPr>
        <p:spPr>
          <a:xfrm>
            <a:off x="548640" y="13716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261872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Edit placeholders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Recipients, Teams URL, Slack path, PagerDuty key</a:t>
            </a:r>
            <a:endParaRPr lang="en-US" sz="1500" dirty="0"/>
          </a:p>
        </p:txBody>
      </p:sp>
      <p:sp>
        <p:nvSpPr>
          <p:cNvPr id="6" name="deploy badge 2"/>
          <p:cNvSpPr/>
          <p:nvPr/>
        </p:nvSpPr>
        <p:spPr>
          <a:xfrm>
            <a:off x="548640" y="22860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176272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Deploy in order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deploy/deploy_all.sql with SnowSQL, or Snowflake CLI</a:t>
            </a:r>
            <a:endParaRPr lang="en-US" sz="1500" dirty="0"/>
          </a:p>
        </p:txBody>
      </p:sp>
      <p:sp>
        <p:nvSpPr>
          <p:cNvPr id="9" name="deploy badge 3"/>
          <p:cNvSpPr/>
          <p:nvPr/>
        </p:nvSpPr>
        <p:spPr>
          <a:xfrm>
            <a:off x="548640" y="32004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090672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 channels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CALL SP_QM_TEST_CHANNELS()</a:t>
            </a:r>
            <a:endParaRPr lang="en-US" sz="1500" dirty="0"/>
          </a:p>
        </p:txBody>
      </p:sp>
      <p:sp>
        <p:nvSpPr>
          <p:cNvPr id="12" name="deploy badge 4"/>
          <p:cNvSpPr/>
          <p:nvPr/>
        </p:nvSpPr>
        <p:spPr>
          <a:xfrm>
            <a:off x="548640" y="41148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005072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 end to end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SYSTEM$WAIT and a two-session lock</a:t>
            </a:r>
            <a:endParaRPr lang="en-US" sz="1500" dirty="0"/>
          </a:p>
        </p:txBody>
      </p:sp>
      <p:sp>
        <p:nvSpPr>
          <p:cNvPr id="15" name="deploy badge 5"/>
          <p:cNvSpPr/>
          <p:nvPr/>
        </p:nvSpPr>
        <p:spPr>
          <a:xfrm>
            <a:off x="548640" y="50292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29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919472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Start schedule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Resume TASK_QM_SCAN</a:t>
            </a:r>
            <a:endParaRPr lang="en-US" sz="1500" dirty="0"/>
          </a:p>
        </p:txBody>
      </p:sp>
      <p:sp>
        <p:nvSpPr>
          <p:cNvPr id="18" name="ops panel"/>
          <p:cNvSpPr/>
          <p:nvPr/>
        </p:nvSpPr>
        <p:spPr>
          <a:xfrm>
            <a:off x="6400800" y="1325880"/>
            <a:ext cx="5212080" cy="4754880"/>
          </a:xfrm>
          <a:prstGeom prst="roundRect">
            <a:avLst>
              <a:gd name="adj" fmla="val 153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ops circle"/>
          <p:cNvSpPr/>
          <p:nvPr/>
        </p:nvSpPr>
        <p:spPr>
          <a:xfrm>
            <a:off x="6675120" y="1554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op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5938" y="1695298"/>
            <a:ext cx="358445" cy="35844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452360" y="1554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Day-2 operations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675120" y="237744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V_QM_OPEN_ALERTS;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V_QM_MONITOR_HEALTH;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SYSTEM$CANCEL_QUERY('{query_id}');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SYSTEM$ABORT_TRANSACTION({txn_id});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QM_CONFIG SET PARAM_VALUE = '20'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PARAM_NAME = 'LONG_RUNNING_MIN';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48463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Runbook: re-run the MONITOR grant for new warehouses. The task auto-suspends after 10 consecutive failures; review monitor health weekly.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tform Observability">
  <a:themeElements>
    <a:clrScheme name="Platform Observability">
      <a:dk1>
        <a:srgbClr val="1F2A36"/>
      </a:dk1>
      <a:lt1>
        <a:srgbClr val="FFFFFF"/>
      </a:lt1>
      <a:dk2>
        <a:srgbClr val="12446E"/>
      </a:dk2>
      <a:lt2>
        <a:srgbClr val="E8F4FB"/>
      </a:lt2>
      <a:accent1>
        <a:srgbClr val="0070AD"/>
      </a:accent1>
      <a:accent2>
        <a:srgbClr val="12ABDB"/>
      </a:accent2>
      <a:accent3>
        <a:srgbClr val="E94B89"/>
      </a:accent3>
      <a:accent4>
        <a:srgbClr val="003D5A"/>
      </a:accent4>
      <a:accent5>
        <a:srgbClr val="A4DBE8"/>
      </a:accent5>
      <a:accent6>
        <a:srgbClr val="FCE4EE"/>
      </a:accent6>
      <a:hlink>
        <a:srgbClr val="0070AD"/>
      </a:hlink>
      <a:folHlink>
        <a:srgbClr val="003D5A"/>
      </a:folHlink>
    </a:clrScheme>
    <a:fontScheme name="Platform Observabilit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Platform Observability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Snowflake Real-Time Query Alerts - Architecture</dc:title>
  <dc:subject>PptxGenJS Presentation</dc:subject>
  <dc:creator>Platform Observability</dc:creator>
  <cp:lastModifiedBy>Platform Observability</cp:lastModifiedBy>
  <cp:revision>1</cp:revision>
  <dcterms:created xsi:type="dcterms:W3CDTF">2026-10-02T17:39:55Z</dcterms:created>
  <dcterms:modified xsi:type="dcterms:W3CDTF">2026-10-02T17:39:55Z</dcterms:modified>
</cp:coreProperties>
</file>